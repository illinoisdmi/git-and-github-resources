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4" r:id="rId5"/>
    <p:sldId id="259" r:id="rId6"/>
    <p:sldId id="260" r:id="rId7"/>
    <p:sldId id="261" r:id="rId8"/>
    <p:sldId id="262" r:id="rId9"/>
    <p:sldId id="265" r:id="rId10"/>
    <p:sldId id="263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5E1"/>
    <a:srgbClr val="CCFB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3362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1D0D8-461D-7762-2E49-61A93FC06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6209D6-D018-6C7E-0B1F-CA77456C0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F108C9-BCF3-38E6-8331-461695C617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27D655-CC61-3AA2-7714-E3BCFE67A1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9425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A7EE9-EE33-2D58-74A6-73BE590AA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8E9422-6E15-9ECF-BE9A-3F39B5594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147C36-9807-763B-E599-BD54799120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FD2847-C24B-C23A-5FA4-CF06C7499A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4621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914400"/>
            <a:ext cx="2011680" cy="20116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23444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371600"/>
            <a:ext cx="5852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</a:rPr>
              <a:t>Introduction to GitHub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84632" y="1985556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for data professionals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84632" y="2606039"/>
            <a:ext cx="5852160" cy="10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your work reproducible, collaborative, and recoverable</a:t>
            </a:r>
          </a:p>
          <a:p>
            <a:pPr marL="0" indent="0">
              <a:buNone/>
            </a:pPr>
            <a:endParaRPr lang="en-US" sz="1400" dirty="0">
              <a:solidFill>
                <a:srgbClr val="CBD5E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CCFBF1"/>
                </a:solidFill>
              </a:rPr>
              <a:t>I-AIR SEO: May 2026</a:t>
            </a:r>
          </a:p>
          <a:p>
            <a:pPr marL="0" indent="0">
              <a:buNone/>
            </a:pPr>
            <a:endParaRPr lang="en-US" sz="1400" b="1" dirty="0">
              <a:solidFill>
                <a:srgbClr val="CCFBF1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CBD5E1"/>
                </a:solidFill>
              </a:rPr>
              <a:t>Presenters:</a:t>
            </a:r>
          </a:p>
          <a:p>
            <a:pPr marL="0" indent="0">
              <a:buNone/>
            </a:pPr>
            <a:r>
              <a:rPr lang="en-US" sz="1400" i="1" dirty="0">
                <a:solidFill>
                  <a:srgbClr val="CCFBF1"/>
                </a:solidFill>
              </a:rPr>
              <a:t>James Anderson – </a:t>
            </a:r>
            <a:r>
              <a:rPr lang="en-US" sz="1400" i="1" dirty="0">
                <a:solidFill>
                  <a:srgbClr val="CBD5E1"/>
                </a:solidFill>
              </a:rPr>
              <a:t>Kaskaskia College</a:t>
            </a:r>
          </a:p>
          <a:p>
            <a:pPr marL="0" indent="0">
              <a:buNone/>
            </a:pPr>
            <a:r>
              <a:rPr lang="en-US" sz="1400" i="1" dirty="0">
                <a:solidFill>
                  <a:srgbClr val="CCFBF1"/>
                </a:solidFill>
              </a:rPr>
              <a:t>Joel Swenddal – </a:t>
            </a:r>
            <a:r>
              <a:rPr lang="en-US" sz="1400" i="1" dirty="0">
                <a:solidFill>
                  <a:srgbClr val="CBD5E1"/>
                </a:solidFill>
              </a:rPr>
              <a:t>University of Illinois Urbana-Champaign – jswen@illinois.edu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THE PROBLEM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Does this look familiar?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4864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analysis_FINAL.sql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847088"/>
            <a:ext cx="54864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847088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analysis_FINAL_v2.sql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22576"/>
            <a:ext cx="54864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2322576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analysis_FINAL_v2_USE_THIS.sql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54864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2798064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analysis_FINAL_v2_USE_THIS_fixed.sql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73552"/>
            <a:ext cx="54864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273552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analysis_FINAL_v2_USE_THIS_fixed_JAN.sql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5486400" cy="429768"/>
          </a:xfrm>
          <a:prstGeom prst="rect">
            <a:avLst/>
          </a:prstGeom>
          <a:solidFill>
            <a:srgbClr val="FEF2F2"/>
          </a:solidFill>
          <a:ln w="25400">
            <a:solidFill>
              <a:srgbClr val="DC262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3749040"/>
            <a:ext cx="51206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analysis_FINAL_v2_USE_THIS_fixed_JAN_FINAL.sql</a:t>
            </a:r>
            <a:endParaRPr lang="en-US" sz="13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3813048"/>
            <a:ext cx="320040" cy="32004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6400800" y="1371600"/>
            <a:ext cx="2468880" cy="2834640"/>
          </a:xfrm>
          <a:prstGeom prst="rect">
            <a:avLst/>
          </a:prstGeom>
          <a:solidFill>
            <a:srgbClr val="FFF7ED"/>
          </a:solidFill>
          <a:ln w="25400">
            <a:solidFill>
              <a:srgbClr val="F97316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492240" y="1463040"/>
            <a:ext cx="22860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is right?
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What changed?
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go back to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older version?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familiar? Git solves exactly this.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COMMON USE CASES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professionals can use software development practices.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2337480"/>
            <a:ext cx="3977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2337480"/>
            <a:ext cx="73152" cy="1325880"/>
          </a:xfrm>
          <a:prstGeom prst="rect">
            <a:avLst/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97400" y="2474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</a:rPr>
              <a:t>Dashboard Development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19000" y="28404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Developing dashboards IS software development even when it is low-code (Tableau/Power BI).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2337480"/>
            <a:ext cx="3977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2337480"/>
            <a:ext cx="73152" cy="1325880"/>
          </a:xfrm>
          <a:prstGeom prst="rect">
            <a:avLst/>
          </a:prstGeom>
          <a:solidFill>
            <a:srgbClr val="002060"/>
          </a:solidFill>
          <a:ln w="12700">
            <a:solidFill>
              <a:srgbClr val="002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5124600" y="2474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</a:rPr>
              <a:t>Pipelines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5124600" y="281754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parts of a process can be grouped together in one repository (SQL, Python, SSIS, SAS,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etc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55B3A8-BE19-98E6-E39A-D8238B9BF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E12E256-99B6-8A7B-8D98-8A313B3ED66B}"/>
              </a:ext>
            </a:extLst>
          </p:cNvPr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541EC5E-65A3-64E4-7830-3F028FA5EDDC}"/>
              </a:ext>
            </a:extLst>
          </p:cNvPr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WHAT IS IT?</a:t>
            </a:r>
            <a:endParaRPr lang="en-US" sz="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41C49B6-7E0A-0B00-1DBF-88D316D4BB90}"/>
              </a:ext>
            </a:extLst>
          </p:cNvPr>
          <p:cNvSpPr/>
          <p:nvPr/>
        </p:nvSpPr>
        <p:spPr>
          <a:xfrm>
            <a:off x="457200" y="5943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 control is a time machine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 your work.</a:t>
            </a:r>
            <a:endParaRPr lang="en-US" sz="30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5F6549C-19FE-D15C-A4DB-0A22CC2E7FB8}"/>
              </a:ext>
            </a:extLst>
          </p:cNvPr>
          <p:cNvSpPr/>
          <p:nvPr/>
        </p:nvSpPr>
        <p:spPr>
          <a:xfrm>
            <a:off x="457200" y="1783080"/>
            <a:ext cx="3977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64B647A-A297-3CDE-015A-C70C41DFB9DE}"/>
              </a:ext>
            </a:extLst>
          </p:cNvPr>
          <p:cNvSpPr/>
          <p:nvPr/>
        </p:nvSpPr>
        <p:spPr>
          <a:xfrm>
            <a:off x="457200" y="1783080"/>
            <a:ext cx="73152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>
            <a:extLst>
              <a:ext uri="{FF2B5EF4-FFF2-40B4-BE49-F238E27FC236}">
                <a16:creationId xmlns:a16="http://schemas.microsoft.com/office/drawing/2014/main" id="{81920E2E-9286-FBC6-617A-E66FE9C74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194560"/>
            <a:ext cx="411480" cy="411480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:a16="http://schemas.microsoft.com/office/drawing/2014/main" id="{FFA6DA9D-8A6E-9025-716E-EB64A58C3AF9}"/>
              </a:ext>
            </a:extLst>
          </p:cNvPr>
          <p:cNvSpPr/>
          <p:nvPr/>
        </p:nvSpPr>
        <p:spPr>
          <a:xfrm>
            <a:off x="1143000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History</a:t>
            </a:r>
            <a:endParaRPr lang="en-US" sz="15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10068CC-BFCA-2C2B-B402-EC6333C5453E}"/>
              </a:ext>
            </a:extLst>
          </p:cNvPr>
          <p:cNvSpPr/>
          <p:nvPr/>
        </p:nvSpPr>
        <p:spPr>
          <a:xfrm>
            <a:off x="1143000" y="22860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ever made is saved with who made it and why.</a:t>
            </a:r>
            <a:endParaRPr lang="en-US" sz="12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480BCAFE-981B-4372-3BB3-30B18BCF5509}"/>
              </a:ext>
            </a:extLst>
          </p:cNvPr>
          <p:cNvSpPr/>
          <p:nvPr/>
        </p:nvSpPr>
        <p:spPr>
          <a:xfrm>
            <a:off x="4754880" y="1783080"/>
            <a:ext cx="3977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34C63141-EAEB-74CC-51A8-411C692E0ECE}"/>
              </a:ext>
            </a:extLst>
          </p:cNvPr>
          <p:cNvSpPr/>
          <p:nvPr/>
        </p:nvSpPr>
        <p:spPr>
          <a:xfrm>
            <a:off x="4754880" y="1783080"/>
            <a:ext cx="73152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>
            <a:extLst>
              <a:ext uri="{FF2B5EF4-FFF2-40B4-BE49-F238E27FC236}">
                <a16:creationId xmlns:a16="http://schemas.microsoft.com/office/drawing/2014/main" id="{CD19921E-2453-D73F-679E-6D2AA05241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472" y="2194560"/>
            <a:ext cx="411480" cy="411480"/>
          </a:xfrm>
          <a:prstGeom prst="rect">
            <a:avLst/>
          </a:prstGeom>
        </p:spPr>
      </p:pic>
      <p:sp>
        <p:nvSpPr>
          <p:cNvPr id="13" name="Text 9">
            <a:extLst>
              <a:ext uri="{FF2B5EF4-FFF2-40B4-BE49-F238E27FC236}">
                <a16:creationId xmlns:a16="http://schemas.microsoft.com/office/drawing/2014/main" id="{93C9689F-30C3-6A12-2043-CEC5EFC08102}"/>
              </a:ext>
            </a:extLst>
          </p:cNvPr>
          <p:cNvSpPr/>
          <p:nvPr/>
        </p:nvSpPr>
        <p:spPr>
          <a:xfrm>
            <a:off x="5440680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 Travel</a:t>
            </a:r>
            <a:endParaRPr lang="en-US" sz="150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C3F008AB-BB34-3ACD-00A4-7ADE5502D014}"/>
              </a:ext>
            </a:extLst>
          </p:cNvPr>
          <p:cNvSpPr/>
          <p:nvPr/>
        </p:nvSpPr>
        <p:spPr>
          <a:xfrm>
            <a:off x="5440680" y="22860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Revert any file — or the whole project — to any past state.</a:t>
            </a:r>
            <a:endParaRPr lang="en-US" sz="1200" dirty="0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C4869FD7-CD11-263D-C64F-307AB95C006F}"/>
              </a:ext>
            </a:extLst>
          </p:cNvPr>
          <p:cNvSpPr/>
          <p:nvPr/>
        </p:nvSpPr>
        <p:spPr>
          <a:xfrm>
            <a:off x="457200" y="3291840"/>
            <a:ext cx="3977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CF1AA51C-4F9E-1DFD-BA70-6088C5F314DA}"/>
              </a:ext>
            </a:extLst>
          </p:cNvPr>
          <p:cNvSpPr/>
          <p:nvPr/>
        </p:nvSpPr>
        <p:spPr>
          <a:xfrm>
            <a:off x="457200" y="3291840"/>
            <a:ext cx="73152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>
            <a:extLst>
              <a:ext uri="{FF2B5EF4-FFF2-40B4-BE49-F238E27FC236}">
                <a16:creationId xmlns:a16="http://schemas.microsoft.com/office/drawing/2014/main" id="{61BB539D-5B92-2B51-CA18-8B45CC022F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3703320"/>
            <a:ext cx="411480" cy="411480"/>
          </a:xfrm>
          <a:prstGeom prst="rect">
            <a:avLst/>
          </a:prstGeom>
        </p:spPr>
      </p:pic>
      <p:sp>
        <p:nvSpPr>
          <p:cNvPr id="18" name="Text 13">
            <a:extLst>
              <a:ext uri="{FF2B5EF4-FFF2-40B4-BE49-F238E27FC236}">
                <a16:creationId xmlns:a16="http://schemas.microsoft.com/office/drawing/2014/main" id="{D4EBB86B-9E92-DF6C-B539-3483D0CAE42D}"/>
              </a:ext>
            </a:extLst>
          </p:cNvPr>
          <p:cNvSpPr/>
          <p:nvPr/>
        </p:nvSpPr>
        <p:spPr>
          <a:xfrm>
            <a:off x="1143000" y="3429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Compare</a:t>
            </a:r>
            <a:endParaRPr lang="en-US" sz="1500" dirty="0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FE0E66FB-A71B-2F25-4C35-31822EF01F00}"/>
              </a:ext>
            </a:extLst>
          </p:cNvPr>
          <p:cNvSpPr/>
          <p:nvPr/>
        </p:nvSpPr>
        <p:spPr>
          <a:xfrm>
            <a:off x="1143000" y="37947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exactly what changed between any two versions, line by line.</a:t>
            </a:r>
            <a:endParaRPr lang="en-US" sz="1200" dirty="0"/>
          </a:p>
        </p:txBody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7DDFCA4B-AB6F-5D5D-3E26-21560356FE25}"/>
              </a:ext>
            </a:extLst>
          </p:cNvPr>
          <p:cNvSpPr/>
          <p:nvPr/>
        </p:nvSpPr>
        <p:spPr>
          <a:xfrm>
            <a:off x="4754880" y="3291840"/>
            <a:ext cx="39776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55682712-6319-73B8-A160-C788F73A3F61}"/>
              </a:ext>
            </a:extLst>
          </p:cNvPr>
          <p:cNvSpPr/>
          <p:nvPr/>
        </p:nvSpPr>
        <p:spPr>
          <a:xfrm>
            <a:off x="4754880" y="3291840"/>
            <a:ext cx="73152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>
            <a:extLst>
              <a:ext uri="{FF2B5EF4-FFF2-40B4-BE49-F238E27FC236}">
                <a16:creationId xmlns:a16="http://schemas.microsoft.com/office/drawing/2014/main" id="{3F93D8FD-5529-F0DA-B168-47D1D4D381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9472" y="3703320"/>
            <a:ext cx="411480" cy="411480"/>
          </a:xfrm>
          <a:prstGeom prst="rect">
            <a:avLst/>
          </a:prstGeom>
        </p:spPr>
      </p:pic>
      <p:sp>
        <p:nvSpPr>
          <p:cNvPr id="23" name="Text 17">
            <a:extLst>
              <a:ext uri="{FF2B5EF4-FFF2-40B4-BE49-F238E27FC236}">
                <a16:creationId xmlns:a16="http://schemas.microsoft.com/office/drawing/2014/main" id="{BA57F36D-B5EC-F47F-9A8C-E3FFABC7B9B4}"/>
              </a:ext>
            </a:extLst>
          </p:cNvPr>
          <p:cNvSpPr/>
          <p:nvPr/>
        </p:nvSpPr>
        <p:spPr>
          <a:xfrm>
            <a:off x="5440680" y="3429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 Net</a:t>
            </a:r>
            <a:endParaRPr lang="en-US" sz="1500" dirty="0"/>
          </a:p>
        </p:txBody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800F6FDC-FC99-82D6-038C-C85FC019BE37}"/>
              </a:ext>
            </a:extLst>
          </p:cNvPr>
          <p:cNvSpPr/>
          <p:nvPr/>
        </p:nvSpPr>
        <p:spPr>
          <a:xfrm>
            <a:off x="5440680" y="37947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freely. Nothing is ever truly lost.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19363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KEY CONCEPTS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 and GitHub: What's the difference?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84048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3840480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240280"/>
            <a:ext cx="201168" cy="20116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86968" y="22128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on your computer</a:t>
            </a:r>
            <a:endParaRPr lang="en-US" sz="13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642616"/>
            <a:ext cx="201168" cy="2011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86968" y="26151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changes locally</a:t>
            </a:r>
            <a:endParaRPr lang="en-US" sz="13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044952"/>
            <a:ext cx="201168" cy="2011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86968" y="30175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completely offline</a:t>
            </a:r>
            <a:endParaRPr lang="en-US" sz="13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447288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86968" y="341985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Command-line interface (CLI)</a:t>
            </a:r>
            <a:endParaRPr lang="en-US" sz="13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849624"/>
            <a:ext cx="201168" cy="20116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86968" y="38221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under the hood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4846320" y="1280160"/>
            <a:ext cx="384048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3"/>
          <p:cNvSpPr/>
          <p:nvPr/>
        </p:nvSpPr>
        <p:spPr>
          <a:xfrm>
            <a:off x="4846320" y="1280160"/>
            <a:ext cx="3840480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4"/>
          <p:cNvSpPr/>
          <p:nvPr/>
        </p:nvSpPr>
        <p:spPr>
          <a:xfrm>
            <a:off x="4846320" y="12801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4846320" y="18288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</a:t>
            </a:r>
            <a:endParaRPr lang="en-US" sz="12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240280"/>
            <a:ext cx="201168" cy="201168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276088" y="22128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that hosts your repos</a:t>
            </a:r>
            <a:endParaRPr lang="en-US" sz="13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642616"/>
            <a:ext cx="201168" cy="20116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5276088" y="26151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Syncs your work to the cloud</a:t>
            </a:r>
            <a:endParaRPr lang="en-US" sz="13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3044952"/>
            <a:ext cx="201168" cy="201168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5276088" y="30175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&amp; code review</a:t>
            </a:r>
            <a:endParaRPr lang="en-US" sz="1300" dirty="0"/>
          </a:p>
        </p:txBody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3447288"/>
            <a:ext cx="201168" cy="201168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5276088" y="341985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interface (no CLI needed)</a:t>
            </a:r>
            <a:endParaRPr lang="en-US" sz="130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3849624"/>
            <a:ext cx="201168" cy="201168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5276088" y="38221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garage where Git lives</a:t>
            </a:r>
            <a:endParaRPr lang="en-US" sz="1300" dirty="0"/>
          </a:p>
        </p:txBody>
      </p:sp>
      <p:sp>
        <p:nvSpPr>
          <p:cNvPr id="33" name="Text 21"/>
          <p:cNvSpPr/>
          <p:nvPr/>
        </p:nvSpPr>
        <p:spPr>
          <a:xfrm>
            <a:off x="457200" y="473659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Git as the engine and GitHub as the car dealership — one powers, the other makes it accessible.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WHY US?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should data professionals care?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73152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27048"/>
            <a:ext cx="402336" cy="402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399032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trail for your queries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88720" y="1719072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exactly which version of a SQL script or Python job produced last quarter's report — even 2 years later.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57200" y="2221992"/>
            <a:ext cx="82296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57200" y="2221992"/>
            <a:ext cx="73152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42316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88720" y="2295144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 experimentation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188720" y="2615184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Tweak your ETL logic on a branch. If it breaks, your working version is untouched.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57200" y="3118104"/>
            <a:ext cx="82296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457200" y="3118104"/>
            <a:ext cx="73152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31927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88720" y="3191256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 collaboration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188720" y="3511296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analysts working on the same codebase without overwriting each other's work.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57200" y="4014216"/>
            <a:ext cx="82296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457200" y="4014216"/>
            <a:ext cx="73152" cy="8046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215384"/>
            <a:ext cx="402336" cy="40233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88720" y="4087368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Supports reproducibility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88720" y="4407408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ask 'how did you get this number?' You can answer, with proof.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USE CASE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Collaborating on a Dashboard Project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8229600" cy="658368"/>
          </a:xfrm>
          <a:prstGeom prst="rect">
            <a:avLst/>
          </a:prstGeom>
          <a:solidFill>
            <a:srgbClr val="E6FFFE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73152" cy="6583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26464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15568" y="1325880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analysts, one shared codebase — no overwriting, no confusion.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2057400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48640" y="214884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8640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2167128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16736" y="2112264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'Main' branch lives in a shared GitHub repository — it's the production version of the dashboard.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2615184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548640" y="2706624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548640" y="27066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2724912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16736" y="2670048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contributor clones the repository to their local machine.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57200" y="3172968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548640" y="3264408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548640" y="3264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" y="328269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316736" y="3227832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create a development branch and make their changes safely, without touching Main.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57200" y="3730752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548640" y="3822192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0"/>
          <p:cNvSpPr/>
          <p:nvPr/>
        </p:nvSpPr>
        <p:spPr>
          <a:xfrm>
            <a:off x="548640" y="3822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0976" y="3840480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16736" y="3785616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done, they push their branch up to GitHub.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4709160" y="2057400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4800600" y="214884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4"/>
          <p:cNvSpPr/>
          <p:nvPr/>
        </p:nvSpPr>
        <p:spPr>
          <a:xfrm>
            <a:off x="4800600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02936" y="2167128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568696" y="2112264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open a Pull Request on GitHub — proposing their changes for review.</a:t>
            </a:r>
            <a:endParaRPr 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4709160" y="2615184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27"/>
          <p:cNvSpPr/>
          <p:nvPr/>
        </p:nvSpPr>
        <p:spPr>
          <a:xfrm>
            <a:off x="4800600" y="2706624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8"/>
          <p:cNvSpPr/>
          <p:nvPr/>
        </p:nvSpPr>
        <p:spPr>
          <a:xfrm>
            <a:off x="4800600" y="27066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2936" y="2724912"/>
            <a:ext cx="274320" cy="274320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5568696" y="2670048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 review the changes and approve or request edits.</a:t>
            </a:r>
            <a:endParaRPr lang="en-US" sz="1050" dirty="0"/>
          </a:p>
        </p:txBody>
      </p:sp>
      <p:sp>
        <p:nvSpPr>
          <p:cNvPr id="39" name="Shape 30"/>
          <p:cNvSpPr/>
          <p:nvPr/>
        </p:nvSpPr>
        <p:spPr>
          <a:xfrm>
            <a:off x="4709160" y="3172968"/>
            <a:ext cx="39776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1"/>
          <p:cNvSpPr/>
          <p:nvPr/>
        </p:nvSpPr>
        <p:spPr>
          <a:xfrm>
            <a:off x="4800600" y="3264408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2"/>
          <p:cNvSpPr/>
          <p:nvPr/>
        </p:nvSpPr>
        <p:spPr>
          <a:xfrm>
            <a:off x="4800600" y="3264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02936" y="3282696"/>
            <a:ext cx="274320" cy="274320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5568696" y="3227832"/>
            <a:ext cx="3026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approved, the changes merge into Main. Everyone pulling Main now gets the updated dashboard.</a:t>
            </a:r>
            <a:endParaRPr lang="en-US" sz="1050" dirty="0"/>
          </a:p>
        </p:txBody>
      </p:sp>
      <p:sp>
        <p:nvSpPr>
          <p:cNvPr id="44" name="Shape 34"/>
          <p:cNvSpPr/>
          <p:nvPr/>
        </p:nvSpPr>
        <p:spPr>
          <a:xfrm>
            <a:off x="4572000" y="2011680"/>
            <a:ext cx="0" cy="283464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HOW IT WORKS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basic Git/GitHub workflow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82880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80060" y="2487168"/>
            <a:ext cx="1417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006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0060" y="3017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your files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normally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15668" y="2834640"/>
            <a:ext cx="23774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988820" y="270662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D9488"/>
                </a:solidFill>
              </a:rPr>
              <a:t>▶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06040" y="182880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060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171700" y="2487168"/>
            <a:ext cx="1417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17170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Stage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171700" y="3017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Git which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to save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07308" y="2834640"/>
            <a:ext cx="23774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80460" y="270662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D9488"/>
                </a:solidFill>
              </a:rPr>
              <a:t>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97680" y="182880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2976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863340" y="2487168"/>
            <a:ext cx="1417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86334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63340" y="3017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saved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local history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298948" y="2834640"/>
            <a:ext cx="23774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372100" y="270662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D9488"/>
                </a:solidFill>
              </a:rPr>
              <a:t>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989320" y="182880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893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5554980" y="2487168"/>
            <a:ext cx="1417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55498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554980" y="3017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GitHub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cloud)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990588" y="2834640"/>
            <a:ext cx="23774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063740" y="2706624"/>
            <a:ext cx="201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0D9488"/>
                </a:solidFill>
              </a:rPr>
              <a:t>▶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680960" y="1828800"/>
            <a:ext cx="548640" cy="5486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68096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246620" y="2487168"/>
            <a:ext cx="141732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24662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246620" y="30175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reviews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merging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machine  ←————————————————————————→  GitHub (remote)</a:t>
            </a:r>
            <a:endParaRPr lang="en-US" sz="11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94360" y="4224528"/>
            <a:ext cx="46634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94360" y="42793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1–3 happen locally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349240" y="4224528"/>
            <a:ext cx="324612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349240" y="427939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4–5 go to GitHub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406B75-1449-6A1D-FDAD-179B1E6C4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3BF832-C707-02ED-995A-4F56C40DA5E7}"/>
              </a:ext>
            </a:extLst>
          </p:cNvPr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A102B6D-101A-6D16-9C61-4700771DACE8}"/>
              </a:ext>
            </a:extLst>
          </p:cNvPr>
          <p:cNvSpPr/>
          <p:nvPr/>
        </p:nvSpPr>
        <p:spPr>
          <a:xfrm>
            <a:off x="457200" y="256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GIT TOOLS</a:t>
            </a:r>
            <a:endParaRPr lang="en-US" sz="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EABA8D3-0DC9-3DA4-2BF7-AAE9FCA961DB}"/>
              </a:ext>
            </a:extLst>
          </p:cNvPr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latin typeface="Trebuchet MS" panose="020B0603020202020204" pitchFamily="34" charset="0"/>
              </a:rPr>
              <a:t>CLI or GUI tools are available</a:t>
            </a: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C1976806-E155-505F-42D6-B3E84B6566C4}"/>
              </a:ext>
            </a:extLst>
          </p:cNvPr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machine  ←————————————————————————→  GitHub (remote)</a:t>
            </a:r>
            <a:endParaRPr lang="en-US" sz="11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CF145A1C-2BCF-E16D-AB5E-51E032DBA04B}"/>
              </a:ext>
            </a:extLst>
          </p:cNvPr>
          <p:cNvSpPr/>
          <p:nvPr/>
        </p:nvSpPr>
        <p:spPr>
          <a:xfrm>
            <a:off x="594360" y="4224528"/>
            <a:ext cx="46634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A7F7FD14-6912-225C-5492-AEAE5884364D}"/>
              </a:ext>
            </a:extLst>
          </p:cNvPr>
          <p:cNvSpPr/>
          <p:nvPr/>
        </p:nvSpPr>
        <p:spPr>
          <a:xfrm>
            <a:off x="5349240" y="4224528"/>
            <a:ext cx="324612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D7BA612-DDD4-376F-C73C-DED8DCCAC3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426" y="1304501"/>
            <a:ext cx="2587140" cy="2465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2472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Ready to go further?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resources to get started today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97764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47088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600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W3Schools Git Tutorial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60120" y="2011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FB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w3schools.com/git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508760"/>
            <a:ext cx="397764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84708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03520" y="16002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Skills (interactive)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303520" y="2011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FB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skills.github.com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57200" y="2697480"/>
            <a:ext cx="397764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035808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60120" y="2788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Git Tutorials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60120" y="32004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FB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atlassian.com/git/tutorials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800600" y="2697480"/>
            <a:ext cx="397764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3035808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303520" y="2788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Cheat Sheet (PDF)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5303520" y="32004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FB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education.github.com/git-cheat-sheet-education.pdf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way to learn Git is to use it — even on a solo project.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733</Words>
  <Application>Microsoft Office PowerPoint</Application>
  <PresentationFormat>On-screen Show (16:9)</PresentationFormat>
  <Paragraphs>138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Why Git &amp; GitHub?</dc:title>
  <dc:subject>PptxGenJS Presentation</dc:subject>
  <dc:creator>PptxGenJS</dc:creator>
  <cp:lastModifiedBy>Swenddal, Joel</cp:lastModifiedBy>
  <cp:revision>9</cp:revision>
  <dcterms:created xsi:type="dcterms:W3CDTF">2026-04-21T16:20:27Z</dcterms:created>
  <dcterms:modified xsi:type="dcterms:W3CDTF">2026-05-13T15:36:42Z</dcterms:modified>
</cp:coreProperties>
</file>