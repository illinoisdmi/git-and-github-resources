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5E1"/>
    <a:srgbClr val="CCFB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5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3362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914400"/>
            <a:ext cx="2011680" cy="20116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2344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71600"/>
            <a:ext cx="5852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</a:rPr>
              <a:t>Introduction to GitHub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84632" y="1985556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for data professionals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84632" y="2606039"/>
            <a:ext cx="5852160" cy="10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your work reproducible, collaborative, and recoverable</a:t>
            </a:r>
          </a:p>
          <a:p>
            <a:pPr marL="0" indent="0">
              <a:buNone/>
            </a:pPr>
            <a:endParaRPr lang="en-US" sz="1400" dirty="0">
              <a:solidFill>
                <a:srgbClr val="CBD5E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CCFBF1"/>
                </a:solidFill>
              </a:rPr>
              <a:t>I-AIR SEO: May 2026</a:t>
            </a:r>
          </a:p>
          <a:p>
            <a:pPr marL="0" indent="0">
              <a:buNone/>
            </a:pPr>
            <a:endParaRPr lang="en-US" sz="1400" b="1" dirty="0">
              <a:solidFill>
                <a:srgbClr val="CCFBF1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CBD5E1"/>
                </a:solidFill>
              </a:rPr>
              <a:t>Presenters: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CCFBF1"/>
                </a:solidFill>
              </a:rPr>
              <a:t>James Anderson – </a:t>
            </a:r>
            <a:r>
              <a:rPr lang="en-US" sz="1400" i="1" dirty="0">
                <a:solidFill>
                  <a:srgbClr val="CBD5E1"/>
                </a:solidFill>
              </a:rPr>
              <a:t>Kaskaskia College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CCFBF1"/>
                </a:solidFill>
              </a:rPr>
              <a:t>Joel Swenddal – </a:t>
            </a:r>
            <a:r>
              <a:rPr lang="en-US" sz="1400" i="1" dirty="0">
                <a:solidFill>
                  <a:srgbClr val="CBD5E1"/>
                </a:solidFill>
              </a:rPr>
              <a:t>University of Illinois Urbana-Champaign – jswen@illinois.edu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Does this look familiar?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analysis_FINAL.sql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847088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analysis_FINAL_v2.sql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322576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analysis_FINAL_v2_USE_THIS.sql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798064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analysis_FINAL_v2_USE_THIS_fixed.sql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73552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273552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analysis_FINAL_v2_USE_THIS_fixed_JAN.sql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5486400" cy="429768"/>
          </a:xfrm>
          <a:prstGeom prst="rect">
            <a:avLst/>
          </a:prstGeom>
          <a:solidFill>
            <a:srgbClr val="FEF2F2"/>
          </a:solidFill>
          <a:ln w="254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749040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analysis_FINAL_v2_USE_THIS_fixed_JAN_FINAL.sql</a:t>
            </a:r>
            <a:endParaRPr lang="en-US" sz="13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3813048"/>
            <a:ext cx="320040" cy="3200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400800" y="1371600"/>
            <a:ext cx="2468880" cy="2834640"/>
          </a:xfrm>
          <a:prstGeom prst="rect">
            <a:avLst/>
          </a:prstGeom>
          <a:solidFill>
            <a:srgbClr val="FFF7ED"/>
          </a:solidFill>
          <a:ln w="254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92240" y="14630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right?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What changed?
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go back to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version?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Git solves exactly this.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WHAT IS IT?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 control is a time machine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your work.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1945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History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43000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ever made is saved with who made it and why.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7830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178308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21945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4068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Travel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440680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Revert any file — or the whole project — to any past state.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29184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329184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7033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4300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Compare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1143000" y="37947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changed between any two versions, line by line.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754880" y="329184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754880" y="329184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70332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4068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 Net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5440680" y="37947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freely. Nothing is ever truly lost.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KEY CONCEPTS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and GitHub: What's the difference?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84048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84048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4028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8696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on your computer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64261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86968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changes locally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44952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86968" y="30175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completely offline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447288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86968" y="34198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interface (CLI)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86968" y="3822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under the hood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4846320" y="1280160"/>
            <a:ext cx="384048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3"/>
          <p:cNvSpPr/>
          <p:nvPr/>
        </p:nvSpPr>
        <p:spPr>
          <a:xfrm>
            <a:off x="4846320" y="1280160"/>
            <a:ext cx="384048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4"/>
          <p:cNvSpPr/>
          <p:nvPr/>
        </p:nvSpPr>
        <p:spPr>
          <a:xfrm>
            <a:off x="4846320" y="1280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4846320" y="1828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2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40280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27608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that hosts your repos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642616"/>
            <a:ext cx="201168" cy="20116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5276088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your work to the cloud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044952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5276088" y="30175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&amp; code review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447288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276088" y="34198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(no CLI needed)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849624"/>
            <a:ext cx="201168" cy="20116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5276088" y="3822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garage where Git lives</a:t>
            </a:r>
            <a:endParaRPr lang="en-US" sz="1300" dirty="0"/>
          </a:p>
        </p:txBody>
      </p:sp>
      <p:sp>
        <p:nvSpPr>
          <p:cNvPr id="33" name="Text 21"/>
          <p:cNvSpPr/>
          <p:nvPr/>
        </p:nvSpPr>
        <p:spPr>
          <a:xfrm>
            <a:off x="457200" y="47365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Git as the engine and GitHub as the car dealership — one powers, the other makes it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WHY US?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should data professionals care?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27048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39903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for your queries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71907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which version of a SQL script or Python job produced last quarter's report — even 2 years later.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221992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221992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2316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229514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 experimentation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88720" y="2615184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your ETL logic on a branch. If it breaks, your working version is untouched.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118104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3118104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31927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88720" y="3191256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collaboration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188720" y="351129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analysts working on the same codebase without overwriting each other's work.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57200" y="4014216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57200" y="4014216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215384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88720" y="408736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Reproducibility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88720" y="4407408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ask 'how did you get this number?' You can answer, with proof.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USE CASE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Collaborating on a Dashboard Project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658368"/>
          </a:xfrm>
          <a:prstGeom prst="rect">
            <a:avLst/>
          </a:prstGeom>
          <a:solidFill>
            <a:srgbClr val="E6FFF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73152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26464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5568" y="132588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analysts, one shared codebase — no overwriting, no confusion.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057400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216712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16736" y="2112264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'Main' branch lives in a shared GitHub repository — it's the production version of the dashboard.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615184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48640" y="2706624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4864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272491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16736" y="2670048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contributor clones the repository to their local machine.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3172968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48640" y="3264408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54864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28269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16736" y="32278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create a development branch and make their changes safely, without touching Main.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3730752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548640" y="3822192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548640" y="3822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" y="384048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16736" y="3785616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done, they push their branch up to GitHub.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709160" y="2057400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4800600" y="214884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48006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2936" y="216712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568696" y="2112264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open a Pull Request on GitHub — proposing their changes for review.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4709160" y="2615184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4800600" y="2706624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/>
          <p:nvPr/>
        </p:nvSpPr>
        <p:spPr>
          <a:xfrm>
            <a:off x="480060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936" y="2724912"/>
            <a:ext cx="274320" cy="27432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568696" y="2670048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 review the changes and approve or request edits.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4709160" y="3172968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1"/>
          <p:cNvSpPr/>
          <p:nvPr/>
        </p:nvSpPr>
        <p:spPr>
          <a:xfrm>
            <a:off x="4800600" y="3264408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/>
          <p:nvPr/>
        </p:nvSpPr>
        <p:spPr>
          <a:xfrm>
            <a:off x="480060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02936" y="3282696"/>
            <a:ext cx="274320" cy="27432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5568696" y="32278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approved, the changes merge into Main. Everyone pulling Main now gets the updated dashboard.</a:t>
            </a:r>
            <a:endParaRPr 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4572000" y="2011680"/>
            <a:ext cx="0" cy="28346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basic Git/GitHub workflow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8006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006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your files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1566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8882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0604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060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17170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717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7170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Git which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save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0730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8046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97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86334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86334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6334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saved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local history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9894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7210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8932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55498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55498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5498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GitHub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cloud)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9058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06374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68096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6809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4662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24662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24662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reviews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merging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machine  ←————————————————————————→  GitHub (remote)</a:t>
            </a:r>
            <a:endParaRPr lang="en-US" sz="11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94360" y="4224528"/>
            <a:ext cx="4663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94360" y="42793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1–3 happen locally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49240" y="4224528"/>
            <a:ext cx="32461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349240" y="42793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4–5 go to GitHub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to go further?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resources to get started today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4708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Git Tutorial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w3schools.com/git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50876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84708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0352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 (interactive)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30352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skills.github.com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269748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35808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2788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Git Tutorials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6012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atlassian.com/git/tutorials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00600" y="269748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035808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03520" y="2788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Cheat Sheet (PDF)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30352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education.github.com/git-cheat-sheet-education.pdf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way to learn Git is to use it — even on a solo project.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660</Words>
  <Application>Microsoft Office PowerPoint</Application>
  <PresentationFormat>On-screen Show (16:9)</PresentationFormat>
  <Paragraphs>127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Git &amp; GitHub?</dc:title>
  <dc:subject>PptxGenJS Presentation</dc:subject>
  <dc:creator>PptxGenJS</dc:creator>
  <cp:lastModifiedBy>Swenddal, Joel</cp:lastModifiedBy>
  <cp:revision>6</cp:revision>
  <dcterms:created xsi:type="dcterms:W3CDTF">2026-04-21T16:20:27Z</dcterms:created>
  <dcterms:modified xsi:type="dcterms:W3CDTF">2026-04-21T16:46:25Z</dcterms:modified>
</cp:coreProperties>
</file>