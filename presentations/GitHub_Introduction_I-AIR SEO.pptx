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5E1"/>
    <a:srgbClr val="CCF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2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D0D8-461D-7762-2E49-61A93FC06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209D6-D018-6C7E-0B1F-CA77456C0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F108C9-BCF3-38E6-8331-461695C61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7D655-CC61-3AA2-7714-E3BCFE67A1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94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7EE9-EE33-2D58-74A6-73BE590AA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E9422-6E15-9ECF-BE9A-3F39B5594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47C36-9807-763B-E599-BD5479912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D2847-C24B-C23A-5FA4-CF06C7499A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62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914400"/>
            <a:ext cx="2011680" cy="20116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2344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71600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Introduction to GitHub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84632" y="198555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data professionals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84632" y="2606039"/>
            <a:ext cx="5852160" cy="10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your work reproducible, collaborative, and recoverable</a:t>
            </a:r>
          </a:p>
          <a:p>
            <a:pPr marL="0" indent="0">
              <a:buNone/>
            </a:pPr>
            <a:endParaRPr lang="en-US" sz="1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CFBF1"/>
                </a:solidFill>
              </a:rPr>
              <a:t>I-AIR SEO: May 2026</a:t>
            </a:r>
          </a:p>
          <a:p>
            <a:pPr marL="0" indent="0">
              <a:buNone/>
            </a:pPr>
            <a:endParaRPr lang="en-US" sz="1400" b="1" dirty="0">
              <a:solidFill>
                <a:srgbClr val="CCFBF1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BD5E1"/>
                </a:solidFill>
              </a:rPr>
              <a:t>Presenters: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James Anderson – </a:t>
            </a:r>
            <a:r>
              <a:rPr lang="en-US" sz="1400" i="1" dirty="0">
                <a:solidFill>
                  <a:srgbClr val="CBD5E1"/>
                </a:solidFill>
              </a:rPr>
              <a:t>Kaskaskia College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Joel Swenddal – </a:t>
            </a:r>
            <a:r>
              <a:rPr lang="en-US" sz="1400" i="1" dirty="0">
                <a:solidFill>
                  <a:srgbClr val="CBD5E1"/>
                </a:solidFill>
              </a:rPr>
              <a:t>University of Illinois Urbana-Champaign – jswen@illinois.edu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Does this look familiar?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analysis_FINAL.sql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analysis_FINAL_v2.sql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322576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analysis_FINAL_v2_USE_THIS.sql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analysis_FINAL_v2_USE_THIS_fixed.sql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73552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73552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analysis_FINAL_v2_USE_THIS_fixed_JAN.sql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5486400" cy="429768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74904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analysis_FINAL_v2_USE_THIS_fixed_JAN_FINAL.sql</a:t>
            </a:r>
            <a:endParaRPr lang="en-US" sz="13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813048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0" y="1371600"/>
            <a:ext cx="2468880" cy="28346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92240" y="14630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What changed?
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go back to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version?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Git solves exactly this.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COMMON USE CASES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professionals can use software development practices.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74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Dashboard Development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9000" y="284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dashboards IS software development even when it is low-code (Tableau/Power BI).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1246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Pipelines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124600" y="28175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of a process can be grouped together in one repository (SQL, Python, SSIS, SAS,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55B3A8-BE19-98E6-E39A-D8238B9B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12E256-99B6-8A7B-8D98-8A313B3ED66B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1EC5E-65A3-64E4-7830-3F028FA5EDDC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WHAT IS IT?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1C49B6-7E0A-0B00-1DBF-88D316D4BB90}"/>
              </a:ext>
            </a:extLst>
          </p:cNvPr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control is a time machine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your work.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F6549C-19FE-D15C-A4DB-0A22CC2E7FB8}"/>
              </a:ext>
            </a:extLst>
          </p:cNvPr>
          <p:cNvSpPr/>
          <p:nvPr/>
        </p:nvSpPr>
        <p:spPr>
          <a:xfrm>
            <a:off x="45720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64B647A-A297-3CDE-015A-C70C41DFB9DE}"/>
              </a:ext>
            </a:extLst>
          </p:cNvPr>
          <p:cNvSpPr/>
          <p:nvPr/>
        </p:nvSpPr>
        <p:spPr>
          <a:xfrm>
            <a:off x="45720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1920E2E-9286-FBC6-617A-E66FE9C7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194560"/>
            <a:ext cx="411480" cy="41148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FFA6DA9D-8A6E-9025-716E-EB64A58C3AF9}"/>
              </a:ext>
            </a:extLst>
          </p:cNvPr>
          <p:cNvSpPr/>
          <p:nvPr/>
        </p:nvSpPr>
        <p:spPr>
          <a:xfrm>
            <a:off x="11430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History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10068CC-BFCA-2C2B-B402-EC6333C5453E}"/>
              </a:ext>
            </a:extLst>
          </p:cNvPr>
          <p:cNvSpPr/>
          <p:nvPr/>
        </p:nvSpPr>
        <p:spPr>
          <a:xfrm>
            <a:off x="114300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ever made is saved with who made it and why.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80BCAFE-981B-4372-3BB3-30B18BCF5509}"/>
              </a:ext>
            </a:extLst>
          </p:cNvPr>
          <p:cNvSpPr/>
          <p:nvPr/>
        </p:nvSpPr>
        <p:spPr>
          <a:xfrm>
            <a:off x="475488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4C63141-EAEB-74CC-51A8-411C692E0ECE}"/>
              </a:ext>
            </a:extLst>
          </p:cNvPr>
          <p:cNvSpPr/>
          <p:nvPr/>
        </p:nvSpPr>
        <p:spPr>
          <a:xfrm>
            <a:off x="475488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CD19921E-2453-D73F-679E-6D2AA0524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2194560"/>
            <a:ext cx="411480" cy="411480"/>
          </a:xfrm>
          <a:prstGeom prst="rect">
            <a:avLst/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93C9689F-30C3-6A12-2043-CEC5EFC08102}"/>
              </a:ext>
            </a:extLst>
          </p:cNvPr>
          <p:cNvSpPr/>
          <p:nvPr/>
        </p:nvSpPr>
        <p:spPr>
          <a:xfrm>
            <a:off x="544068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Travel</a:t>
            </a:r>
            <a:endParaRPr lang="en-US" sz="15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3F008AB-BB34-3ACD-00A4-7ADE5502D014}"/>
              </a:ext>
            </a:extLst>
          </p:cNvPr>
          <p:cNvSpPr/>
          <p:nvPr/>
        </p:nvSpPr>
        <p:spPr>
          <a:xfrm>
            <a:off x="544068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 any file — or the whole project — to any past state.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4869FD7-CD11-263D-C64F-307AB95C006F}"/>
              </a:ext>
            </a:extLst>
          </p:cNvPr>
          <p:cNvSpPr/>
          <p:nvPr/>
        </p:nvSpPr>
        <p:spPr>
          <a:xfrm>
            <a:off x="45720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F1AA51C-4F9E-1DFD-BA70-6088C5F314DA}"/>
              </a:ext>
            </a:extLst>
          </p:cNvPr>
          <p:cNvSpPr/>
          <p:nvPr/>
        </p:nvSpPr>
        <p:spPr>
          <a:xfrm>
            <a:off x="45720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1BB539D-5B92-2B51-CA18-8B45CC022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703320"/>
            <a:ext cx="411480" cy="411480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D4EBB86B-9E92-DF6C-B539-3483D0CAE42D}"/>
              </a:ext>
            </a:extLst>
          </p:cNvPr>
          <p:cNvSpPr/>
          <p:nvPr/>
        </p:nvSpPr>
        <p:spPr>
          <a:xfrm>
            <a:off x="114300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</a:t>
            </a:r>
            <a:endParaRPr lang="en-US" sz="15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E0E66FB-A71B-2F25-4C35-31822EF01F00}"/>
              </a:ext>
            </a:extLst>
          </p:cNvPr>
          <p:cNvSpPr/>
          <p:nvPr/>
        </p:nvSpPr>
        <p:spPr>
          <a:xfrm>
            <a:off x="114300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changed between any two versions, line by line.</a:t>
            </a:r>
            <a:endParaRPr lang="en-US" sz="12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7DDFCA4B-AB6F-5D5D-3E26-21560356FE25}"/>
              </a:ext>
            </a:extLst>
          </p:cNvPr>
          <p:cNvSpPr/>
          <p:nvPr/>
        </p:nvSpPr>
        <p:spPr>
          <a:xfrm>
            <a:off x="475488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55682712-6319-73B8-A160-C788F73A3F61}"/>
              </a:ext>
            </a:extLst>
          </p:cNvPr>
          <p:cNvSpPr/>
          <p:nvPr/>
        </p:nvSpPr>
        <p:spPr>
          <a:xfrm>
            <a:off x="475488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3F93D8FD-5529-F0DA-B168-47D1D4D38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703320"/>
            <a:ext cx="411480" cy="411480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BA57F36D-B5EC-F47F-9A8C-E3FFABC7B9B4}"/>
              </a:ext>
            </a:extLst>
          </p:cNvPr>
          <p:cNvSpPr/>
          <p:nvPr/>
        </p:nvSpPr>
        <p:spPr>
          <a:xfrm>
            <a:off x="54406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Net</a:t>
            </a:r>
            <a:endParaRPr lang="en-US" sz="150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800F6FDC-FC99-82D6-038C-C85FC019BE37}"/>
              </a:ext>
            </a:extLst>
          </p:cNvPr>
          <p:cNvSpPr/>
          <p:nvPr/>
        </p:nvSpPr>
        <p:spPr>
          <a:xfrm>
            <a:off x="544068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freely. Nothing is ever truly lost.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19363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KEY CONCEPTS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and GitHub: What's the difference?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028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on your computer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426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696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changes locally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449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696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47288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696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interface (CLI)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696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under the hood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484632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484632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4028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2760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that hosts your repos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642616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27608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your work to the cloud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04495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27608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code review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447288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27608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(no CLI needed)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849624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527608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 where Git lives</a:t>
            </a:r>
            <a:endParaRPr lang="en-US" sz="1300" dirty="0"/>
          </a:p>
        </p:txBody>
      </p:sp>
      <p:sp>
        <p:nvSpPr>
          <p:cNvPr id="33" name="Text 21"/>
          <p:cNvSpPr/>
          <p:nvPr/>
        </p:nvSpPr>
        <p:spPr>
          <a:xfrm>
            <a:off x="457200" y="47365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Git as the engine and GitHub as the car dealership — one powers, the other makes it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WHY US?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should data professionals care?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270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for your queries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190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version of a SQL script or Python job produced last quarter's report — even 2 years later.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221992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221992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2316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229514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experimentation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88720" y="261518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your ETL logic on a branch. If it breaks, your working version is untouched.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118104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118104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1927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319125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collaboration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88720" y="351129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 working on the same codebase without overwriting each other's work.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4014216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57200" y="4014216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15384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408736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 reproducibility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88720" y="4407408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ask 'how did you get this number?' You can answer, with proof.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USE CASE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Collaborating on a Dashboard Project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58368"/>
          </a:xfrm>
          <a:prstGeom prst="rect">
            <a:avLst/>
          </a:prstGeom>
          <a:solidFill>
            <a:srgbClr val="E6FFF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73152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2646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132588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analysts, one shared codebase — no overwriting, no confusion.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1671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1673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'Main' branch lives in a shared GitHub repository — it's the production version of the dashboard.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27249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clones the repository to their local machine.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4864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28269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1673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create a development branch and make their changes safely, without touching Main.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730752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548640" y="3822192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548640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384048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16736" y="3785616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done, they push their branch up to GitHub.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0916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80060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006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2936" y="216712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56869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a Pull Request on GitHub — proposing their changes for review.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70916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480060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80060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936" y="2724912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56869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review the changes and approve or request edits.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470916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480060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/>
          <p:nvPr/>
        </p:nvSpPr>
        <p:spPr>
          <a:xfrm>
            <a:off x="480060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2936" y="3282696"/>
            <a:ext cx="274320" cy="27432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56869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the changes merge into Main. Everyone pulling Main now gets the updated dashboard.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4572000" y="2011680"/>
            <a:ext cx="0" cy="2834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basic Git/GitHub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006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files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1566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8882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0604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17170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717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7170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Git which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save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0730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8046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86334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6334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6334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saved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local history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9894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7210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55498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5498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5498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cloud)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9058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06374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680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4662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24662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24662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reviews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merging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machine  ←————————————————————————→  GitHub (remote)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94360" y="4224528"/>
            <a:ext cx="4663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4360" y="42793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 happen locally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49240" y="4224528"/>
            <a:ext cx="32461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49240" y="42793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4–5 go to GitHub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06B75-1449-6A1D-FDAD-179B1E6C4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3BF832-C707-02ED-995A-4F56C40DA5E7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102B6D-101A-6D16-9C61-4700771DACE8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GIT TOOLS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BA8D3-0DC9-3DA4-2BF7-AAE9FCA961DB}"/>
              </a:ext>
            </a:extLst>
          </p:cNvPr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Trebuchet MS" panose="020B0603020202020204" pitchFamily="34" charset="0"/>
              </a:rPr>
              <a:t>CLI or GUI tools are available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7BA612-DDD4-376F-C73C-DED8DCCAC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172" y="1338790"/>
            <a:ext cx="2955461" cy="2816981"/>
          </a:xfrm>
          <a:prstGeom prst="rect">
            <a:avLst/>
          </a:prstGeom>
          <a:ln>
            <a:solidFill>
              <a:srgbClr val="00206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D155BB-BF2F-436B-74E5-1AA052AB2D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938" y="1338790"/>
            <a:ext cx="3102700" cy="2813223"/>
          </a:xfrm>
          <a:prstGeom prst="rect">
            <a:avLst/>
          </a:prstGeom>
          <a:ln>
            <a:solidFill>
              <a:srgbClr val="00206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C2F74B-DE91-0A64-C9BB-3E1490EAF592}"/>
              </a:ext>
            </a:extLst>
          </p:cNvPr>
          <p:cNvSpPr txBox="1"/>
          <p:nvPr/>
        </p:nvSpPr>
        <p:spPr>
          <a:xfrm>
            <a:off x="5793024" y="4278079"/>
            <a:ext cx="188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GitHub Desktop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7BA7B7-84AE-54CC-15A0-B63869BD0720}"/>
              </a:ext>
            </a:extLst>
          </p:cNvPr>
          <p:cNvSpPr txBox="1"/>
          <p:nvPr/>
        </p:nvSpPr>
        <p:spPr>
          <a:xfrm>
            <a:off x="1325873" y="4278079"/>
            <a:ext cx="223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PowerShell, Bash</a:t>
            </a:r>
          </a:p>
        </p:txBody>
      </p:sp>
    </p:spTree>
    <p:extLst>
      <p:ext uri="{BB962C8B-B14F-4D97-AF65-F5344CB8AC3E}">
        <p14:creationId xmlns:p14="http://schemas.microsoft.com/office/powerpoint/2010/main" val="446247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go further?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 to get started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470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Git Tutorial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w3schools.com/git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84708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(interactive)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035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skills.github.com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3580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Git Tutorials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atlassian.com/git/tutorials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3580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35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Cheat Sheet (PDF)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035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education.github.com/git-cheat-sheet-education.pdf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way to learn Git is to use it — even on a solo project.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729</Words>
  <Application>Microsoft Office PowerPoint</Application>
  <PresentationFormat>On-screen Show (16:9)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Git &amp; GitHub?</dc:title>
  <dc:subject>PptxGenJS Presentation</dc:subject>
  <dc:creator>PptxGenJS</dc:creator>
  <cp:lastModifiedBy>Swenddal, Joel</cp:lastModifiedBy>
  <cp:revision>11</cp:revision>
  <dcterms:created xsi:type="dcterms:W3CDTF">2026-04-21T16:20:27Z</dcterms:created>
  <dcterms:modified xsi:type="dcterms:W3CDTF">2026-05-13T15:45:23Z</dcterms:modified>
</cp:coreProperties>
</file>