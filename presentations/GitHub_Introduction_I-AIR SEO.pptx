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5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  <a:srgbClr val="CCF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36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71BC-AA59-4042-0D58-B1BB0870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BD232-AE7C-8CFC-E87D-044DBFD73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56DD5-6A98-B030-59A8-63A3E43CB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0046B-B2D5-D499-BB05-0DAD10594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8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D0D8-461D-7762-2E49-61A93FC06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209D6-D018-6C7E-0B1F-CA77456C0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108C9-BCF3-38E6-8331-461695C61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7D655-CC61-3AA2-7714-E3BCFE67A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42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7EE9-EE33-2D58-74A6-73BE590A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E9422-6E15-9ECF-BE9A-3F39B5594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47C36-9807-763B-E599-BD5479912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D2847-C24B-C23A-5FA4-CF06C7499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62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914400"/>
            <a:ext cx="2011680" cy="2011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4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</a:rPr>
              <a:t>Introduction to GitHub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84632" y="198555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data professionals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4632" y="2606039"/>
            <a:ext cx="5852160" cy="10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work reproducible, collaborative, and recoverable</a:t>
            </a:r>
          </a:p>
          <a:p>
            <a:pPr marL="0" indent="0">
              <a:buNone/>
            </a:pPr>
            <a:endParaRPr lang="en-US" sz="14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CFBF1"/>
                </a:solidFill>
              </a:rPr>
              <a:t>I-AIR SEO: May 2026</a:t>
            </a:r>
          </a:p>
          <a:p>
            <a:pPr marL="0" indent="0">
              <a:buNone/>
            </a:pPr>
            <a:endParaRPr lang="en-US" sz="1400" b="1" dirty="0">
              <a:solidFill>
                <a:srgbClr val="CCFBF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</a:rPr>
              <a:t>Presenters: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</a:rPr>
              <a:t>James Anderson – </a:t>
            </a:r>
            <a:r>
              <a:rPr lang="en-US" sz="1400" i="1" dirty="0">
                <a:solidFill>
                  <a:srgbClr val="CBD5E1"/>
                </a:solidFill>
              </a:rPr>
              <a:t>Kaskaskia College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CFBF1"/>
                </a:solidFill>
              </a:rPr>
              <a:t>Joel Swenddal – </a:t>
            </a:r>
            <a:r>
              <a:rPr lang="en-US" sz="1400" i="1" dirty="0">
                <a:solidFill>
                  <a:srgbClr val="CBD5E1"/>
                </a:solidFill>
              </a:rPr>
              <a:t>University of Illinois Urbana-Champaign – jswen@illinois.edu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4C96-02FE-2DFE-D24B-AAC3DE0E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6649D5-372A-27DD-AE6B-1737927F70FE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C018EB-C44A-77E4-35F2-BE82AD35816C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TODAY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243527-3759-9BD1-EBCE-D8553AFD72B5}"/>
              </a:ext>
            </a:extLst>
          </p:cNvPr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</a:rPr>
              <a:t>Exploring uses for Git/GitHub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04B851-4A06-45EA-3196-DACA9CA0FB53}"/>
              </a:ext>
            </a:extLst>
          </p:cNvPr>
          <p:cNvSpPr txBox="1"/>
          <p:nvPr/>
        </p:nvSpPr>
        <p:spPr>
          <a:xfrm>
            <a:off x="489857" y="1682496"/>
            <a:ext cx="799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Teams using Git/GitHub for developing data products - Joel</a:t>
            </a:r>
          </a:p>
          <a:p>
            <a:pPr marL="285750" indent="-285750">
              <a:buFontTx/>
              <a:buChar char="-"/>
            </a:pPr>
            <a:r>
              <a:rPr lang="en-US" dirty="0"/>
              <a:t>Using GitHub to share common code (accessing, contributing, licenses) - James</a:t>
            </a:r>
          </a:p>
        </p:txBody>
      </p:sp>
    </p:spTree>
    <p:extLst>
      <p:ext uri="{BB962C8B-B14F-4D97-AF65-F5344CB8AC3E}">
        <p14:creationId xmlns:p14="http://schemas.microsoft.com/office/powerpoint/2010/main" val="20825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this look familiar?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analysis_FINAL.sql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5486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analysis_FINAL_v2.sql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5486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22576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analysis_FINAL_v2_USE_THIS.sql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5486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98064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analysis_FINAL_v2_USE_THIS_fixed.sql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5486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analysis_FINAL_v2_USE_THIS_fixed_JAN.sql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486400" cy="429768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analysis_FINAL_v2_USE_THIS_fixed_JAN_FINAL.sql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13048"/>
            <a:ext cx="320040" cy="320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00800" y="1371600"/>
            <a:ext cx="2468880" cy="28346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14630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right?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What changed?
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go back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version?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Git solves exactly this.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COMMON USE CASES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professionals can use software development practices.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3748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337480"/>
            <a:ext cx="73152" cy="1325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7400" y="247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</a:rPr>
              <a:t>Dashboard Development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9000" y="2840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dashboards IS software development even when it is low-code (Tableau/Power BI).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33748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2337480"/>
            <a:ext cx="73152" cy="1325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124600" y="247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</a:rPr>
              <a:t>Pipelines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24600" y="28175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of a process can be grouped together in one repository (SQL, Python, SSIS, SAS,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5B3A8-BE19-98E6-E39A-D8238B9B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12E256-99B6-8A7B-8D98-8A313B3ED66B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41EC5E-65A3-64E4-7830-3F028FA5EDDC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WHAT IS IT?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C49B6-7E0A-0B00-1DBF-88D316D4BB90}"/>
              </a:ext>
            </a:extLst>
          </p:cNvPr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control is a time machine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your work.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F6549C-19FE-D15C-A4DB-0A22CC2E7FB8}"/>
              </a:ext>
            </a:extLst>
          </p:cNvPr>
          <p:cNvSpPr/>
          <p:nvPr/>
        </p:nvSpPr>
        <p:spPr>
          <a:xfrm>
            <a:off x="457200" y="178308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4B647A-A297-3CDE-015A-C70C41DFB9DE}"/>
              </a:ext>
            </a:extLst>
          </p:cNvPr>
          <p:cNvSpPr/>
          <p:nvPr/>
        </p:nvSpPr>
        <p:spPr>
          <a:xfrm>
            <a:off x="457200" y="178308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1920E2E-9286-FBC6-617A-E66FE9C7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94560"/>
            <a:ext cx="411480" cy="41148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FFA6DA9D-8A6E-9025-716E-EB64A58C3AF9}"/>
              </a:ext>
            </a:extLst>
          </p:cNvPr>
          <p:cNvSpPr/>
          <p:nvPr/>
        </p:nvSpPr>
        <p:spPr>
          <a:xfrm>
            <a:off x="11430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History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10068CC-BFCA-2C2B-B402-EC6333C5453E}"/>
              </a:ext>
            </a:extLst>
          </p:cNvPr>
          <p:cNvSpPr/>
          <p:nvPr/>
        </p:nvSpPr>
        <p:spPr>
          <a:xfrm>
            <a:off x="114300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ever made is saved with who made it and why.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80BCAFE-981B-4372-3BB3-30B18BCF5509}"/>
              </a:ext>
            </a:extLst>
          </p:cNvPr>
          <p:cNvSpPr/>
          <p:nvPr/>
        </p:nvSpPr>
        <p:spPr>
          <a:xfrm>
            <a:off x="4754880" y="178308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4C63141-EAEB-74CC-51A8-411C692E0ECE}"/>
              </a:ext>
            </a:extLst>
          </p:cNvPr>
          <p:cNvSpPr/>
          <p:nvPr/>
        </p:nvSpPr>
        <p:spPr>
          <a:xfrm>
            <a:off x="4754880" y="178308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CD19921E-2453-D73F-679E-6D2AA0524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194560"/>
            <a:ext cx="411480" cy="41148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93C9689F-30C3-6A12-2043-CEC5EFC08102}"/>
              </a:ext>
            </a:extLst>
          </p:cNvPr>
          <p:cNvSpPr/>
          <p:nvPr/>
        </p:nvSpPr>
        <p:spPr>
          <a:xfrm>
            <a:off x="544068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Travel</a:t>
            </a:r>
            <a:endParaRPr lang="en-US" sz="15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3F008AB-BB34-3ACD-00A4-7ADE5502D014}"/>
              </a:ext>
            </a:extLst>
          </p:cNvPr>
          <p:cNvSpPr/>
          <p:nvPr/>
        </p:nvSpPr>
        <p:spPr>
          <a:xfrm>
            <a:off x="5440680" y="2286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any file — or the whole project — to any past state.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4869FD7-CD11-263D-C64F-307AB95C006F}"/>
              </a:ext>
            </a:extLst>
          </p:cNvPr>
          <p:cNvSpPr/>
          <p:nvPr/>
        </p:nvSpPr>
        <p:spPr>
          <a:xfrm>
            <a:off x="457200" y="329184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F1AA51C-4F9E-1DFD-BA70-6088C5F314DA}"/>
              </a:ext>
            </a:extLst>
          </p:cNvPr>
          <p:cNvSpPr/>
          <p:nvPr/>
        </p:nvSpPr>
        <p:spPr>
          <a:xfrm>
            <a:off x="457200" y="329184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61BB539D-5B92-2B51-CA18-8B45CC022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03320"/>
            <a:ext cx="411480" cy="41148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D4EBB86B-9E92-DF6C-B539-3483D0CAE42D}"/>
              </a:ext>
            </a:extLst>
          </p:cNvPr>
          <p:cNvSpPr/>
          <p:nvPr/>
        </p:nvSpPr>
        <p:spPr>
          <a:xfrm>
            <a:off x="114300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</a:t>
            </a:r>
            <a:endParaRPr lang="en-US" sz="15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E0E66FB-A71B-2F25-4C35-31822EF01F00}"/>
              </a:ext>
            </a:extLst>
          </p:cNvPr>
          <p:cNvSpPr/>
          <p:nvPr/>
        </p:nvSpPr>
        <p:spPr>
          <a:xfrm>
            <a:off x="1143000" y="3794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 between any two versions, line by line.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DDFCA4B-AB6F-5D5D-3E26-21560356FE25}"/>
              </a:ext>
            </a:extLst>
          </p:cNvPr>
          <p:cNvSpPr/>
          <p:nvPr/>
        </p:nvSpPr>
        <p:spPr>
          <a:xfrm>
            <a:off x="4754880" y="3291840"/>
            <a:ext cx="3977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5682712-6319-73B8-A160-C788F73A3F61}"/>
              </a:ext>
            </a:extLst>
          </p:cNvPr>
          <p:cNvSpPr/>
          <p:nvPr/>
        </p:nvSpPr>
        <p:spPr>
          <a:xfrm>
            <a:off x="4754880" y="329184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3F93D8FD-5529-F0DA-B168-47D1D4D38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703320"/>
            <a:ext cx="411480" cy="411480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BA57F36D-B5EC-F47F-9A8C-E3FFABC7B9B4}"/>
              </a:ext>
            </a:extLst>
          </p:cNvPr>
          <p:cNvSpPr/>
          <p:nvPr/>
        </p:nvSpPr>
        <p:spPr>
          <a:xfrm>
            <a:off x="54406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Net</a:t>
            </a:r>
            <a:endParaRPr lang="en-US" sz="15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00F6FDC-FC99-82D6-038C-C85FC019BE37}"/>
              </a:ext>
            </a:extLst>
          </p:cNvPr>
          <p:cNvSpPr/>
          <p:nvPr/>
        </p:nvSpPr>
        <p:spPr>
          <a:xfrm>
            <a:off x="5440680" y="3794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freely. Nothing is ever truly lost.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936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CONCEPTS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and GitHub: What's the difference?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02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on your computer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4261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6968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locally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449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968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completely offline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4728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6968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(CLI)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96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6968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 the hood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846320" y="128016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8463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24028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76088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that hosts your repos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42616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76088" y="26151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your work to the cloud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04495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76088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code review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447288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76088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(no CLI needed)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849624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76088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garage where Git lives</a:t>
            </a:r>
            <a:endParaRPr lang="en-US" sz="1300" dirty="0"/>
          </a:p>
        </p:txBody>
      </p:sp>
      <p:sp>
        <p:nvSpPr>
          <p:cNvPr id="33" name="Text 21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Git as the engine and GitHub as the car dealership — one powers, the other makes it accessible.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WHY US?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should data professionals care?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70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990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for your queries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7190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version of a SQL script or Python job produced last quarter's report — even 2 years later.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21992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221992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2951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experimentation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88720" y="261518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your ETL logic on a branch. If it breaks, your working version is untouched.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118104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3118104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192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9125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35112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analysts working on the same codebase without overwriting each other's work.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014216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4014216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1538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40873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Supports reproducibility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88720" y="44074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ask 'how did you get this number?' You can answer, with proof.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Collaborating on a Dashboard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E6FFF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264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2588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analysts, one shared codebase — no overwriting, no confusion.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671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6736" y="2112264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'Main' branch lives in a shared GitHub repository — it's the production version of the dashboard.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615184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270662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64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7249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16736" y="267004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contributor clones the repository to their local machine.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172968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8640" y="32644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4864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28269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16736" y="3227832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create a development branch and make their changes safely, without touching Main.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730752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48640" y="382219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4864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38404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16736" y="3785616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done, they push their branch up to GitHub.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09160" y="2057400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800600" y="214884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8006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2936" y="216712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68696" y="2112264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 a Pull Request on GitHub — proposing their changes for review.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709160" y="2615184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800600" y="270662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480060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724912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568696" y="267004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review the changes and approve or request edits.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709160" y="3172968"/>
            <a:ext cx="3977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4800600" y="32644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480060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2936" y="3282696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568696" y="3227832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the changes merge into Main. Everyone pulling Main now gets the updated dashboard.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4572000" y="2011680"/>
            <a:ext cx="0" cy="2834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basic Git/GitHub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0060" y="248716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15668" y="283464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88820" y="27066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71700" y="248716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7170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7170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which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save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07308" y="283464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80460" y="27066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63340" y="248716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6334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6334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saved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local 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98948" y="283464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72100" y="27066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54980" y="248716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5498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498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cloud)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0588" y="283464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63740" y="270662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80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46620" y="2487168"/>
            <a:ext cx="1417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4662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4662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merging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machine  ←————————————————————————→  GitHub (remote)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94360" y="4224528"/>
            <a:ext cx="4663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4279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happen locally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4224528"/>
            <a:ext cx="32461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49240" y="4279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4–5 go to GitHub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06B75-1449-6A1D-FDAD-179B1E6C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3BF832-C707-02ED-995A-4F56C40DA5E7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102B6D-101A-6D16-9C61-4700771DACE8}"/>
              </a:ext>
            </a:extLst>
          </p:cNvPr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GIT TOOLS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ABA8D3-0DC9-3DA4-2BF7-AAE9FCA961DB}"/>
              </a:ext>
            </a:extLst>
          </p:cNvPr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rebuchet MS" panose="020B0603020202020204" pitchFamily="34" charset="0"/>
              </a:rPr>
              <a:t>CLI or GUI tools are available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D7BA612-DDD4-376F-C73C-DED8DCCA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72" y="1338790"/>
            <a:ext cx="2955461" cy="281698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D155BB-BF2F-436B-74E5-1AA052AB2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938" y="1338790"/>
            <a:ext cx="3102700" cy="281322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C2F74B-DE91-0A64-C9BB-3E1490EAF592}"/>
              </a:ext>
            </a:extLst>
          </p:cNvPr>
          <p:cNvSpPr txBox="1"/>
          <p:nvPr/>
        </p:nvSpPr>
        <p:spPr>
          <a:xfrm>
            <a:off x="5793024" y="4278079"/>
            <a:ext cx="188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603020202020204" pitchFamily="34" charset="0"/>
              </a:rPr>
              <a:t>GitHub Desktop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BA7B7-84AE-54CC-15A0-B63869BD0720}"/>
              </a:ext>
            </a:extLst>
          </p:cNvPr>
          <p:cNvSpPr txBox="1"/>
          <p:nvPr/>
        </p:nvSpPr>
        <p:spPr>
          <a:xfrm>
            <a:off x="1325873" y="4278079"/>
            <a:ext cx="223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603020202020204" pitchFamily="34" charset="0"/>
              </a:rPr>
              <a:t>PowerShell, Bash</a:t>
            </a:r>
          </a:p>
        </p:txBody>
      </p:sp>
    </p:spTree>
    <p:extLst>
      <p:ext uri="{BB962C8B-B14F-4D97-AF65-F5344CB8AC3E}">
        <p14:creationId xmlns:p14="http://schemas.microsoft.com/office/powerpoint/2010/main" val="44624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go further?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 to get started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470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Git Tutorial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w3schools.com/git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508760"/>
            <a:ext cx="39776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470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Skills (interactive)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skills.github.com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39776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3580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Git Tutorials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atlassian.com/git/tutorials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2697480"/>
            <a:ext cx="39776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3580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Cheat Sheet (PDF)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education.github.com/git-cheat-sheet-education.pdf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learn Git is to use it — even on a solo project.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763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Git &amp; GitHub?</dc:title>
  <dc:subject>PptxGenJS Presentation</dc:subject>
  <dc:creator>PptxGenJS</dc:creator>
  <cp:lastModifiedBy>Swenddal, Joel</cp:lastModifiedBy>
  <cp:revision>12</cp:revision>
  <dcterms:created xsi:type="dcterms:W3CDTF">2026-04-21T16:20:27Z</dcterms:created>
  <dcterms:modified xsi:type="dcterms:W3CDTF">2026-05-14T14:26:59Z</dcterms:modified>
</cp:coreProperties>
</file>